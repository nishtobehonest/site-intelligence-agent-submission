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7C3AED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73152"/>
            <a:ext cx="91440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Site Intelligence Agent —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0" y="1097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ECF4"/>
                </a:solidFill>
              </a:rPr>
              <a:t>Nishchay Vishwanath · Cornell MEM · April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899916" y="749808"/>
            <a:ext cx="4389120" cy="640080"/>
          </a:xfrm>
          <a:prstGeom prst="rect">
            <a:avLst/>
          </a:prstGeom>
          <a:solidFill>
            <a:srgbClr val="D0EBFF"/>
          </a:solidFill>
          <a:ln w="19050">
            <a:solidFill>
              <a:srgbClr val="197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73068" y="804672"/>
            <a:ext cx="4242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864AB"/>
                </a:solidFill>
              </a:rPr>
              <a:t>Technician Query (Natural Language)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91356" y="104241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7ED6"/>
                </a:solidFill>
              </a:rPr>
              <a:t>assistant.ask(query)   ·   CLI Interface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4476" y="1389888"/>
            <a:ext cx="0" cy="146304"/>
          </a:xfrm>
          <a:prstGeom prst="line">
            <a:avLst/>
          </a:prstGeom>
          <a:ln w="19050">
            <a:solidFill>
              <a:srgbClr val="E8ECF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899916" y="1536192"/>
            <a:ext cx="4389120" cy="640080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73068" y="1591056"/>
            <a:ext cx="4242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</a:rPr>
              <a:t>STEP 1 — retrieve()   [retriever.py]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1356" y="182880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44"/>
                </a:solidFill>
              </a:rPr>
              <a:t>Embed query with all-MiniLM-L6-v2  ·  Search all 3 Chroma collections</a:t>
            </a:r>
          </a:p>
          <a:p>
            <a:pPr algn="l"/>
            <a:r>
              <a:rPr sz="950" b="0">
                <a:solidFill>
                  <a:srgbClr val="333344"/>
                </a:solidFill>
              </a:rPr>
              <a:t>Return top-k=5 per collection  ·  Sort merged results by cosine similarity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674620.0" y="2176272"/>
            <a:ext cx="3419856.0" cy="219456"/>
          </a:xfrm>
          <a:prstGeom prst="line">
            <a:avLst/>
          </a:prstGeom>
          <a:ln w="15240">
            <a:solidFill>
              <a:srgbClr val="0E9A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4476" y="2176272"/>
            <a:ext cx="0.0" cy="219456"/>
          </a:xfrm>
          <a:prstGeom prst="line">
            <a:avLst/>
          </a:prstGeom>
          <a:ln w="15240">
            <a:solidFill>
              <a:srgbClr val="0E9A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4476" y="2176272"/>
            <a:ext cx="3419856.0" cy="219456"/>
          </a:xfrm>
          <a:prstGeom prst="line">
            <a:avLst/>
          </a:prstGeom>
          <a:ln w="15240">
            <a:solidFill>
              <a:srgbClr val="0E9A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1074420" y="2395728"/>
            <a:ext cx="3200400" cy="777240"/>
          </a:xfrm>
          <a:prstGeom prst="rect">
            <a:avLst/>
          </a:prstGeom>
          <a:solidFill>
            <a:srgbClr val="CCF5FA"/>
          </a:solidFill>
          <a:ln w="19050">
            <a:solidFill>
              <a:srgbClr val="0E9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7572" y="245059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7285"/>
                </a:solidFill>
              </a:rPr>
              <a:t>Chroma: osha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5860" y="2688336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B7285"/>
                </a:solidFill>
              </a:rPr>
              <a:t>29 CFR 1910.147  Lockout/Tagout</a:t>
            </a:r>
          </a:p>
          <a:p>
            <a:pPr algn="l"/>
            <a:r>
              <a:rPr sz="950" b="0">
                <a:solidFill>
                  <a:srgbClr val="0B7285"/>
                </a:solidFill>
              </a:rPr>
              <a:t>29 CFR 1910.303  Electrical Safety</a:t>
            </a:r>
          </a:p>
          <a:p>
            <a:pPr algn="l"/>
            <a:r>
              <a:rPr sz="950" b="0">
                <a:solidFill>
                  <a:srgbClr val="0B7285"/>
                </a:solidFill>
              </a:rPr>
              <a:t>566 chunks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94276" y="2395728"/>
            <a:ext cx="3200400" cy="777240"/>
          </a:xfrm>
          <a:prstGeom prst="rect">
            <a:avLst/>
          </a:prstGeom>
          <a:solidFill>
            <a:srgbClr val="CCF5FA"/>
          </a:solidFill>
          <a:ln w="19050">
            <a:solidFill>
              <a:srgbClr val="0E9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7428" y="245059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7285"/>
                </a:solidFill>
              </a:rPr>
              <a:t>Chroma: manuals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85716" y="2688336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B7285"/>
                </a:solidFill>
              </a:rPr>
              <a:t>Carrier 48LC 2017 &amp; 2023</a:t>
            </a:r>
          </a:p>
          <a:p>
            <a:pPr algn="l"/>
            <a:r>
              <a:rPr sz="950" b="0">
                <a:solidFill>
                  <a:srgbClr val="0B7285"/>
                </a:solidFill>
              </a:rPr>
              <a:t>Lennox SL280  ·  Trane XR15</a:t>
            </a:r>
          </a:p>
          <a:p>
            <a:pPr algn="l"/>
            <a:r>
              <a:rPr sz="950" b="0">
                <a:solidFill>
                  <a:srgbClr val="0B7285"/>
                </a:solidFill>
              </a:rPr>
              <a:t>2,744 chunks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14132" y="2395728"/>
            <a:ext cx="3200400" cy="777240"/>
          </a:xfrm>
          <a:prstGeom prst="rect">
            <a:avLst/>
          </a:prstGeom>
          <a:solidFill>
            <a:srgbClr val="CCF5FA"/>
          </a:solidFill>
          <a:ln w="19050">
            <a:solidFill>
              <a:srgbClr val="0E9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87284" y="2450592"/>
            <a:ext cx="3054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B7285"/>
                </a:solidFill>
              </a:rPr>
              <a:t>Chroma: job_history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5572" y="2688336"/>
            <a:ext cx="30175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B7285"/>
                </a:solidFill>
              </a:rPr>
              <a:t>synthetic_jobs.json</a:t>
            </a:r>
          </a:p>
          <a:p>
            <a:pPr algn="l"/>
            <a:r>
              <a:rPr sz="950" b="0">
                <a:solidFill>
                  <a:srgbClr val="0B7285"/>
                </a:solidFill>
              </a:rPr>
              <a:t>50 job records  ·  183 chunks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674620.0" y="3172968"/>
            <a:ext cx="3419856.0" cy="82296"/>
          </a:xfrm>
          <a:prstGeom prst="line">
            <a:avLst/>
          </a:prstGeom>
          <a:ln w="15240">
            <a:solidFill>
              <a:srgbClr val="0E9A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094476.0" y="3172968"/>
            <a:ext cx="0.0" cy="82296"/>
          </a:xfrm>
          <a:prstGeom prst="line">
            <a:avLst/>
          </a:prstGeom>
          <a:ln w="15240">
            <a:solidFill>
              <a:srgbClr val="0E9A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94476" y="3172968"/>
            <a:ext cx="3419856.0" cy="82296"/>
          </a:xfrm>
          <a:prstGeom prst="line">
            <a:avLst/>
          </a:prstGeom>
          <a:ln w="15240">
            <a:solidFill>
              <a:srgbClr val="0E9AB5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3717036" y="3209544"/>
            <a:ext cx="4754880" cy="329184"/>
          </a:xfrm>
          <a:prstGeom prst="rect">
            <a:avLst/>
          </a:prstGeom>
          <a:solidFill>
            <a:srgbClr val="F1F3F5"/>
          </a:solidFill>
          <a:ln w="12700">
            <a:solidFill>
              <a:srgbClr val="86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08476" y="3236976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68E96"/>
                </a:solidFill>
              </a:rPr>
              <a:t>Merged &amp; ranked  ·  cosine_sim = 1 − (L2_dist² / 2)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94476" y="3547872"/>
            <a:ext cx="0" cy="210312"/>
          </a:xfrm>
          <a:prstGeom prst="line">
            <a:avLst/>
          </a:prstGeom>
          <a:ln w="19050">
            <a:solidFill>
              <a:srgbClr val="E8ECF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899916" y="3758184"/>
            <a:ext cx="4389120" cy="731520"/>
          </a:xfrm>
          <a:prstGeom prst="rect">
            <a:avLst/>
          </a:prstGeom>
          <a:solidFill>
            <a:srgbClr val="FFF3BF"/>
          </a:solidFill>
          <a:ln w="19050">
            <a:solidFill>
              <a:srgbClr val="E6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73068" y="3813048"/>
            <a:ext cx="4242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67700"/>
                </a:solidFill>
              </a:rPr>
              <a:t>STEP 2 — score_confidence()   [confidence.py]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91356" y="4050792"/>
            <a:ext cx="4206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44"/>
                </a:solidFill>
              </a:rPr>
              <a:t>Compare top cosine score against thresholds</a:t>
            </a:r>
          </a:p>
          <a:p>
            <a:pPr algn="l"/>
            <a:r>
              <a:rPr sz="950" b="0">
                <a:solidFill>
                  <a:srgbClr val="333344"/>
                </a:solidFill>
              </a:rPr>
              <a:t>detect_conflicts(): cross-collection + within-collection version conflicts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02436" y="3712464"/>
            <a:ext cx="2560320" cy="822960"/>
          </a:xfrm>
          <a:prstGeom prst="rect">
            <a:avLst/>
          </a:prstGeom>
          <a:solidFill>
            <a:srgbClr val="F3D9FA"/>
          </a:solidFill>
          <a:ln w="19050">
            <a:solidFill>
              <a:srgbClr val="862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5588" y="376732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62E9C"/>
                </a:solidFill>
              </a:rPr>
              <a:t>Conflict Detection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3876" y="40050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F3DC4"/>
                </a:solidFill>
              </a:rPr>
              <a:t>① Cross-collection: top-3 results</a:t>
            </a:r>
          </a:p>
          <a:p>
            <a:pPr algn="l"/>
            <a:r>
              <a:rPr sz="950" b="0">
                <a:solidFill>
                  <a:srgbClr val="5F3DC4"/>
                </a:solidFill>
              </a:rPr>
              <a:t>   from ≥2 auth. collections, Δ≤0.15</a:t>
            </a:r>
          </a:p>
          <a:p>
            <a:pPr algn="l"/>
            <a:r>
              <a:rPr sz="950" b="0">
                <a:solidFill>
                  <a:srgbClr val="5F3DC4"/>
                </a:solidFill>
              </a:rPr>
              <a:t>② Within-collection: 2+ source files,</a:t>
            </a:r>
          </a:p>
          <a:p>
            <a:pPr algn="l"/>
            <a:r>
              <a:rPr sz="950" b="0">
                <a:solidFill>
                  <a:srgbClr val="5F3DC4"/>
                </a:solidFill>
              </a:rPr>
              <a:t>   best scores Δ≤0.15 (guard ≥0.50)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26196" y="3712464"/>
            <a:ext cx="2560320" cy="822960"/>
          </a:xfrm>
          <a:prstGeom prst="rect">
            <a:avLst/>
          </a:prstGeom>
          <a:solidFill>
            <a:srgbClr val="FFF9DB"/>
          </a:solidFill>
          <a:ln w="19050">
            <a:solidFill>
              <a:srgbClr val="E6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99348" y="3767328"/>
            <a:ext cx="24140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7700"/>
                </a:solidFill>
              </a:rPr>
              <a:t>Confidence Thresholds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17636" y="4005072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B35900"/>
                </a:solidFill>
              </a:rPr>
              <a:t>HIGH:     score ≥ 0.75  AND ≥2 hits ≥0.60</a:t>
            </a:r>
          </a:p>
          <a:p>
            <a:pPr algn="l"/>
            <a:r>
              <a:rPr sz="950" b="0">
                <a:solidFill>
                  <a:srgbClr val="B35900"/>
                </a:solidFill>
              </a:rPr>
              <a:t>PARTIAL:  0.50 ≤ score &lt; 0.75</a:t>
            </a:r>
          </a:p>
          <a:p>
            <a:pPr algn="l"/>
            <a:r>
              <a:rPr sz="950" b="0">
                <a:solidFill>
                  <a:srgbClr val="B35900"/>
                </a:solidFill>
              </a:rPr>
              <a:t>          OR conflict detected</a:t>
            </a:r>
          </a:p>
          <a:p>
            <a:pPr algn="l"/>
            <a:r>
              <a:rPr sz="950" b="0">
                <a:solidFill>
                  <a:srgbClr val="B35900"/>
                </a:solidFill>
              </a:rPr>
              <a:t>LOW:      score &lt; 0.50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99916" y="4745736"/>
            <a:ext cx="4389120" cy="685800"/>
          </a:xfrm>
          <a:prstGeom prst="rect">
            <a:avLst/>
          </a:prstGeom>
          <a:solidFill>
            <a:srgbClr val="F3D9FA"/>
          </a:solidFill>
          <a:ln w="19050">
            <a:solidFill>
              <a:srgbClr val="862E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73068" y="4800600"/>
            <a:ext cx="4242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862E9C"/>
                </a:solidFill>
              </a:rPr>
              <a:t>STEP 3 — llm.generate()   [llm.py]   HIGH / PARTIAL only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91356" y="5038344"/>
            <a:ext cx="420624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44"/>
                </a:solidFill>
              </a:rPr>
              <a:t>Gemini 2.5-flash  (swappable via LLM_PROVIDER)</a:t>
            </a:r>
          </a:p>
          <a:p>
            <a:pPr algn="l"/>
            <a:r>
              <a:rPr sz="950" b="0">
                <a:solidFill>
                  <a:srgbClr val="333344"/>
                </a:solidFill>
              </a:rPr>
              <a:t>Context: top-5 chunks + system prompt  ·  grounding: "answer only from context, always cite"</a:t>
            </a:r>
          </a:p>
          <a:p>
            <a:pPr algn="l"/>
            <a:r>
              <a:rPr sz="950" b="0">
                <a:solidFill>
                  <a:srgbClr val="333344"/>
                </a:solidFill>
              </a:rPr>
              <a:t>LOW confidence → this step is skipped entirely (no LLM call)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094476" y="4489704"/>
            <a:ext cx="0" cy="256032"/>
          </a:xfrm>
          <a:prstGeom prst="line">
            <a:avLst/>
          </a:prstGeom>
          <a:ln w="19050">
            <a:solidFill>
              <a:srgbClr val="2B8A3E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149340" y="450799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2B8A3E"/>
                </a:solidFill>
              </a:rPr>
              <a:t>HIGH / PARTIAL</a:t>
            </a:r>
          </a:p>
        </p:txBody>
      </p:sp>
      <p:cxnSp>
        <p:nvCxnSpPr>
          <p:cNvPr id="44" name="Connector 43"/>
          <p:cNvCxnSpPr/>
          <p:nvPr/>
        </p:nvCxnSpPr>
        <p:spPr>
          <a:xfrm flipV="1">
            <a:off x="6094476" y="4974336"/>
            <a:ext cx="0" cy="457200"/>
          </a:xfrm>
          <a:prstGeom prst="line">
            <a:avLst/>
          </a:prstGeom>
          <a:ln w="19050">
            <a:solidFill>
              <a:srgbClr val="E8ECF4"/>
            </a:solidFill>
            <a:tailEnd type="none"/>
            <a:head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3899916" y="4974336"/>
            <a:ext cx="4389120" cy="566928"/>
          </a:xfrm>
          <a:prstGeom prst="rect">
            <a:avLst/>
          </a:prstGeom>
          <a:solidFill>
            <a:srgbClr val="EDE9FE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73068" y="5029200"/>
            <a:ext cx="424281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</a:rPr>
              <a:t>STEP 4 — route()   [degradation.py]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91356" y="526694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333344"/>
                </a:solidFill>
              </a:rPr>
              <a:t>Format final response by confidence level  ·  Attach source citations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31036" y="392277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C92A2A"/>
                </a:solidFill>
              </a:rPr>
              <a:t>LOW path:</a:t>
            </a:r>
          </a:p>
          <a:p>
            <a:pPr algn="ctr"/>
            <a:r>
              <a:rPr sz="900" b="0">
                <a:solidFill>
                  <a:srgbClr val="C92A2A"/>
                </a:solidFill>
              </a:rPr>
              <a:t>LLM skipped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E677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91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Graceful Degradation — The Core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0" y="12801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E8ECF4"/>
                </a:solidFill>
              </a:rPr>
              <a:t>Nishchay Vishwanath · Cornell MEM · April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76656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CF4"/>
                </a:solidFill>
              </a:rPr>
              <a:t>Every query is routed to one of three paths based on retrieval confidence. False positives (wrong confident answers) are more dangerous than over-escalation.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98348" y="1024128"/>
            <a:ext cx="3566160" cy="420624"/>
          </a:xfrm>
          <a:prstGeom prst="rect">
            <a:avLst/>
          </a:prstGeom>
          <a:solidFill>
            <a:srgbClr val="2B8A3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9788" y="108813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HIGH CONFIDENCE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8" y="1481328"/>
            <a:ext cx="3566160" cy="4809744"/>
          </a:xfrm>
          <a:prstGeom prst="rect">
            <a:avLst/>
          </a:prstGeom>
          <a:solidFill>
            <a:srgbClr val="D3F9D8"/>
          </a:solidFill>
          <a:ln w="19050">
            <a:solidFill>
              <a:srgbClr val="2B8A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" y="1609344"/>
            <a:ext cx="3346704" cy="201168"/>
          </a:xfrm>
          <a:prstGeom prst="rect">
            <a:avLst/>
          </a:prstGeom>
          <a:solidFill>
            <a:srgbClr val="2B8A3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" y="1627632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" y="1847088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E2A"/>
                </a:solidFill>
              </a:rPr>
              <a:t>top_score ≥ 0.75</a:t>
            </a:r>
          </a:p>
          <a:p>
            <a:pPr algn="l"/>
            <a:r>
              <a:rPr sz="1000" b="0">
                <a:solidFill>
                  <a:srgbClr val="1A5E2A"/>
                </a:solidFill>
              </a:rPr>
              <a:t>AND ≥ 2 results above 0.60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" y="2322576"/>
            <a:ext cx="3346704" cy="201168"/>
          </a:xfrm>
          <a:prstGeom prst="rect">
            <a:avLst/>
          </a:prstGeom>
          <a:solidFill>
            <a:srgbClr val="2B8A3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" y="2340864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" y="2560320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E2A"/>
                </a:solidFill>
              </a:rPr>
              <a:t>LLM called with full context block</a:t>
            </a:r>
          </a:p>
          <a:p>
            <a:pPr algn="l"/>
            <a:r>
              <a:rPr sz="1000" b="0">
                <a:solidFill>
                  <a:srgbClr val="1A5E2A"/>
                </a:solidFill>
              </a:rPr>
              <a:t>Answer returned with source citations</a:t>
            </a:r>
          </a:p>
          <a:p>
            <a:pPr algn="l"/>
            <a:r>
              <a:rPr sz="1000" b="0">
                <a:solidFill>
                  <a:srgbClr val="1A5E2A"/>
                </a:solidFill>
              </a:rPr>
              <a:t>escalate: false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" y="3200400"/>
            <a:ext cx="3346704" cy="201168"/>
          </a:xfrm>
          <a:prstGeom prst="rect">
            <a:avLst/>
          </a:prstGeom>
          <a:solidFill>
            <a:srgbClr val="2B8A3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" y="3218688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Conflict check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" y="3438144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E2A"/>
                </a:solidFill>
              </a:rPr>
              <a:t>No conflict detected</a:t>
            </a:r>
          </a:p>
          <a:p>
            <a:pPr algn="l"/>
            <a:r>
              <a:rPr sz="1000" b="0">
                <a:solidFill>
                  <a:srgbClr val="1A5E2A"/>
                </a:solidFill>
              </a:rPr>
              <a:t>across sources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6" y="3913632"/>
            <a:ext cx="3346704" cy="201168"/>
          </a:xfrm>
          <a:prstGeom prst="rect">
            <a:avLst/>
          </a:prstGeom>
          <a:solidFill>
            <a:srgbClr val="2B8A3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" y="3931920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Demo 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" y="4151376"/>
            <a:ext cx="327355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E2A"/>
                </a:solidFill>
              </a:rPr>
              <a:t>"What are the steps for the</a:t>
            </a:r>
          </a:p>
          <a:p>
            <a:pPr algn="l"/>
            <a:r>
              <a:rPr sz="1000" b="0">
                <a:solidFill>
                  <a:srgbClr val="1A5E2A"/>
                </a:solidFill>
              </a:rPr>
              <a:t>lockout/tagout energy control</a:t>
            </a:r>
          </a:p>
          <a:p>
            <a:pPr algn="l"/>
            <a:r>
              <a:rPr sz="1000" b="0">
                <a:solidFill>
                  <a:srgbClr val="1A5E2A"/>
                </a:solidFill>
              </a:rPr>
              <a:t>procedure?"</a:t>
            </a:r>
          </a:p>
          <a:p>
            <a:pPr algn="l"/>
            <a:r>
              <a:rPr sz="1000" b="0">
                <a:solidFill>
                  <a:srgbClr val="1A5E2A"/>
                </a:solidFill>
              </a:rPr>
              <a:t>top_score = 0.93</a:t>
            </a:r>
          </a:p>
          <a:p>
            <a:pPr algn="l"/>
            <a:r>
              <a:rPr sz="1000" b="0">
                <a:solidFill>
                  <a:srgbClr val="1A5E2A"/>
                </a:solidFill>
              </a:rPr>
              <a:t>→ [OSHA] 29 CFR 1910.147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" y="5120640"/>
            <a:ext cx="3346704" cy="201168"/>
          </a:xfrm>
          <a:prstGeom prst="rect">
            <a:avLst/>
          </a:prstGeom>
          <a:solidFill>
            <a:srgbClr val="2B8A3E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" y="5138928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Eval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" y="5358384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5E2A"/>
                </a:solidFill>
              </a:rPr>
              <a:t>Ground truth set: 94.0%</a:t>
            </a:r>
          </a:p>
          <a:p>
            <a:pPr algn="l"/>
            <a:r>
              <a:rPr sz="1000" b="0">
                <a:solidFill>
                  <a:srgbClr val="1A5E2A"/>
                </a:solidFill>
              </a:rPr>
              <a:t>correct routing (47 / 50)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1396" y="1024128"/>
            <a:ext cx="3566160" cy="420624"/>
          </a:xfrm>
          <a:prstGeom prst="rect">
            <a:avLst/>
          </a:prstGeom>
          <a:solidFill>
            <a:srgbClr val="E677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02836" y="108813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PARTIAL CONFIDENCE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11396" y="1481328"/>
            <a:ext cx="3566160" cy="4809744"/>
          </a:xfrm>
          <a:prstGeom prst="rect">
            <a:avLst/>
          </a:prstGeom>
          <a:solidFill>
            <a:srgbClr val="FFF3BF"/>
          </a:solidFill>
          <a:ln w="19050">
            <a:solidFill>
              <a:srgbClr val="E67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421124" y="1609344"/>
            <a:ext cx="3346704" cy="201168"/>
          </a:xfrm>
          <a:prstGeom prst="rect">
            <a:avLst/>
          </a:prstGeom>
          <a:solidFill>
            <a:srgbClr val="E677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8556" y="1627632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57700" y="1847088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5900"/>
                </a:solidFill>
              </a:rPr>
              <a:t>0.50 ≤ top_score &lt; 0.75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OR conflict detected between sources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21124" y="2322576"/>
            <a:ext cx="3346704" cy="201168"/>
          </a:xfrm>
          <a:prstGeom prst="rect">
            <a:avLst/>
          </a:prstGeom>
          <a:solidFill>
            <a:srgbClr val="E677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48556" y="2340864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Behaviour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7700" y="2560320"/>
            <a:ext cx="3273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5900"/>
                </a:solidFill>
              </a:rPr>
              <a:t>LLM called — answer returned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⚠ Conflict warning surfaced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Both conflicting sources shown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escalate: true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21124" y="3364992"/>
            <a:ext cx="3346704" cy="201168"/>
          </a:xfrm>
          <a:prstGeom prst="rect">
            <a:avLst/>
          </a:prstGeom>
          <a:solidFill>
            <a:srgbClr val="E677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48556" y="3383280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Conflict triggers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57700" y="3602736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5900"/>
                </a:solidFill>
              </a:rPr>
              <a:t>① OSHA vs equipment manual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② Two manual versions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   (e.g. Carrier 48LC 2017 vs 2023)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21124" y="4242816"/>
            <a:ext cx="3346704" cy="201168"/>
          </a:xfrm>
          <a:prstGeom prst="rect">
            <a:avLst/>
          </a:prstGeom>
          <a:solidFill>
            <a:srgbClr val="E677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8556" y="4261104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Demo query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57700" y="4480560"/>
            <a:ext cx="327355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5900"/>
                </a:solidFill>
              </a:rPr>
              <a:t>"What is the recommended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refrigerant charge pressure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for a Carrier rooftop unit?"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top_score = 0.52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→ 2017 vs 2023 conflict flagged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21124" y="5449824"/>
            <a:ext cx="3346704" cy="201168"/>
          </a:xfrm>
          <a:prstGeom prst="rect">
            <a:avLst/>
          </a:prstGeom>
          <a:solidFill>
            <a:srgbClr val="E6770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48556" y="5468112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Eval coverage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7700" y="5687568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35900"/>
                </a:solidFill>
              </a:rPr>
              <a:t>Contradictions set: 80.0%</a:t>
            </a:r>
          </a:p>
          <a:p>
            <a:pPr algn="l"/>
            <a:r>
              <a:rPr sz="1000" b="0">
                <a:solidFill>
                  <a:srgbClr val="B35900"/>
                </a:solidFill>
              </a:rPr>
              <a:t>conflict surfaced (12 / 15)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24444" y="1024128"/>
            <a:ext cx="3566160" cy="420624"/>
          </a:xfrm>
          <a:prstGeom prst="rect">
            <a:avLst/>
          </a:prstGeom>
          <a:solidFill>
            <a:srgbClr val="C92A2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15884" y="108813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LOW CONFIDENCE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24444" y="1481328"/>
            <a:ext cx="3566160" cy="4809744"/>
          </a:xfrm>
          <a:prstGeom prst="rect">
            <a:avLst/>
          </a:prstGeom>
          <a:solidFill>
            <a:srgbClr val="FFE3E3"/>
          </a:solidFill>
          <a:ln w="19050">
            <a:solidFill>
              <a:srgbClr val="C9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34172" y="1609344"/>
            <a:ext cx="3346704" cy="201168"/>
          </a:xfrm>
          <a:prstGeom prst="rect">
            <a:avLst/>
          </a:prstGeom>
          <a:solidFill>
            <a:srgbClr val="C92A2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61604" y="1627632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Threshold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0748" y="1847088"/>
            <a:ext cx="32735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1E1E"/>
                </a:solidFill>
              </a:rPr>
              <a:t>top_score &lt; 0.50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OR zero results returned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34172" y="2322576"/>
            <a:ext cx="3346704" cy="201168"/>
          </a:xfrm>
          <a:prstGeom prst="rect">
            <a:avLst/>
          </a:prstGeom>
          <a:solidFill>
            <a:srgbClr val="C92A2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1604" y="2340864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Behaviour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0748" y="2560320"/>
            <a:ext cx="327355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1E1E"/>
                </a:solidFill>
              </a:rPr>
              <a:t>LLM is NOT called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Deterministic escalation message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Shows closest match + score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escalate: true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34172" y="3364992"/>
            <a:ext cx="3346704" cy="201168"/>
          </a:xfrm>
          <a:prstGeom prst="rect">
            <a:avLst/>
          </a:prstGeom>
          <a:solidFill>
            <a:srgbClr val="C92A2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61604" y="3383280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Why skip the LLM?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70748" y="3602736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1E1E"/>
                </a:solidFill>
              </a:rPr>
              <a:t>Calling LLM on low-quality context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is the hallucination scenario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this system is designed to prevent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34172" y="4242816"/>
            <a:ext cx="3346704" cy="201168"/>
          </a:xfrm>
          <a:prstGeom prst="rect">
            <a:avLst/>
          </a:prstGeom>
          <a:solidFill>
            <a:srgbClr val="C92A2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61604" y="4261104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Demo query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70748" y="4480560"/>
            <a:ext cx="327355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1E1E"/>
                </a:solidFill>
              </a:rPr>
              <a:t>"What are the repair procedures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for a Daikin VRV system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model DX300?"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top_score = 0.31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→ Equipment not in corpus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34172" y="5449824"/>
            <a:ext cx="3346704" cy="201168"/>
          </a:xfrm>
          <a:prstGeom prst="rect">
            <a:avLst/>
          </a:prstGeom>
          <a:solidFill>
            <a:srgbClr val="C92A2A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61604" y="5468112"/>
            <a:ext cx="3291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FFFFF"/>
                </a:solidFill>
              </a:rPr>
              <a:t>Eval coverage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70748" y="5687568"/>
            <a:ext cx="3273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61E1E"/>
                </a:solidFill>
              </a:rPr>
              <a:t>Adversarial set: 45.0% correct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(near-miss equipment is accepted</a:t>
            </a:r>
          </a:p>
          <a:p>
            <a:pPr algn="l"/>
            <a:r>
              <a:rPr sz="1000" b="0">
                <a:solidFill>
                  <a:srgbClr val="A61E1E"/>
                </a:solidFill>
              </a:rPr>
              <a:t>limitation of dense retrieval)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382512"/>
            <a:ext cx="12188952" cy="475488"/>
          </a:xfrm>
          <a:prstGeom prst="rect">
            <a:avLst/>
          </a:prstGeom>
          <a:solidFill>
            <a:srgbClr val="1C2740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5760" y="6455664"/>
            <a:ext cx="11430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E8ECF4"/>
                </a:solidFill>
              </a:rPr>
              <a:t>Pipeline: retriever.py → confidence.py → llm.py (HIGH/PARTIAL only) → degradation.py  ·  Overall eval: 80.0% correct routing across 85 test cases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